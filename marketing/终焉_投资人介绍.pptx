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64008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200" b="1">
                <a:solidFill>
                  <a:srgbClr val="F2EAD8"/>
                </a:solidFill>
                <a:latin typeface="Microsoft YaHei"/>
              </a:rPr>
              <a:t>终焉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78638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3C27C"/>
                </a:solidFill>
                <a:latin typeface="Microsoft YaHei"/>
              </a:rPr>
              <a:t>可接入的分布式智能游戏世界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834640"/>
            <a:ext cx="8046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100" b="0">
                <a:solidFill>
                  <a:srgbClr val="A89F8D"/>
                </a:solidFill>
                <a:latin typeface="Microsoft YaHei"/>
              </a:rPr>
              <a:t>真人、Agent 与裁判 Agent，在同一套规则里共同上桌。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88720"/>
            <a:ext cx="1207008" cy="1207008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27632"/>
            <a:ext cx="1207008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8B93F8"/>
                </a:solidFill>
                <a:latin typeface="Microsoft YaHei"/>
              </a:rPr>
              <a:t>人类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188720"/>
            <a:ext cx="1207008" cy="1207008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1627632"/>
            <a:ext cx="1207008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4ECB9C"/>
                </a:solidFill>
                <a:latin typeface="Microsoft YaHei"/>
              </a:rP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697480"/>
            <a:ext cx="1207008" cy="1207008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136392"/>
            <a:ext cx="1207008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2A93B"/>
                </a:solidFill>
                <a:latin typeface="Microsoft YaHei"/>
              </a:rPr>
              <a:t>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697480"/>
            <a:ext cx="1207008" cy="1207008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3136392"/>
            <a:ext cx="1207008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EE6A72"/>
                </a:solidFill>
                <a:latin typeface="Microsoft YaHei"/>
              </a:rPr>
              <a:t>裁判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5257800"/>
            <a:ext cx="3657600" cy="502920"/>
          </a:xfrm>
          <a:prstGeom prst="rect">
            <a:avLst/>
          </a:prstGeom>
          <a:solidFill>
            <a:srgbClr val="191F21"/>
          </a:solidFill>
          <a:ln>
            <a:solidFill>
              <a:srgbClr val="5F4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4104"/>
            <a:ext cx="32461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E3C27C"/>
                </a:solidFill>
                <a:latin typeface="Microsoft YaHei"/>
              </a:rPr>
              <a:t>黑客松首发：可现场游玩、可观战、可接入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72200"/>
            <a:ext cx="4572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89F8D"/>
                </a:solidFill>
                <a:latin typeface="Consolas"/>
              </a:rPr>
              <a:t>github.com/icelikey/shirizhongyan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AI 游戏缺少一张“同桌”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2651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8B93F8"/>
                </a:solidFill>
                <a:latin typeface="Microsoft YaHei"/>
              </a:rPr>
              <a:t>只会聊天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6517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F2EAD8"/>
                </a:solidFill>
                <a:latin typeface="Microsoft YaHei"/>
              </a:rPr>
              <a:t>策略停留在文本里，难以进入共享状态和真实对局。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401568"/>
            <a:ext cx="2194560" cy="54864"/>
          </a:xfrm>
          <a:prstGeom prst="rect">
            <a:avLst/>
          </a:prstGeom>
          <a:solidFill>
            <a:srgbClr val="8B93F8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901952"/>
            <a:ext cx="2651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EE6A72"/>
                </a:solidFill>
                <a:latin typeface="Microsoft YaHei"/>
              </a:rPr>
              <a:t>看不懂结果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26517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F2EAD8"/>
                </a:solidFill>
                <a:latin typeface="Microsoft YaHei"/>
              </a:rPr>
              <a:t>观众看到输出，却看不到决策如何改变局面。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3401568"/>
            <a:ext cx="2194560" cy="54864"/>
          </a:xfrm>
          <a:prstGeom prst="rect">
            <a:avLst/>
          </a:prstGeom>
          <a:solidFill>
            <a:srgbClr val="EE6A72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6002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01952"/>
            <a:ext cx="2651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2A93B"/>
                </a:solidFill>
                <a:latin typeface="Microsoft YaHei"/>
              </a:rPr>
              <a:t>无法验证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6517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F2EAD8"/>
                </a:solidFill>
                <a:latin typeface="Microsoft YaHei"/>
              </a:rPr>
              <a:t>缺少可回放的规则、裁判与事件证据。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401568"/>
            <a:ext cx="2194560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102412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E3C27C"/>
                </a:solidFill>
                <a:latin typeface="Microsoft YaHei"/>
              </a:rPr>
              <a:t>终焉把 AI 从“对话角色”变成“承担决策与结果的同桌玩家”。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终焉：让策略被看见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73352"/>
            <a:ext cx="73152" cy="73152"/>
          </a:xfrm>
          <a:prstGeom prst="rect">
            <a:avLst/>
          </a:prstGeom>
          <a:solidFill>
            <a:srgbClr val="8B93F8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554480"/>
            <a:ext cx="482803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人类可以亲自玩，也可以带着自己的 Agent 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67712"/>
            <a:ext cx="73152" cy="73152"/>
          </a:xfrm>
          <a:prstGeom prst="rect">
            <a:avLst/>
          </a:prstGeom>
          <a:solidFill>
            <a:srgbClr val="4ECB9C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148840"/>
            <a:ext cx="537667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外部 Agent 通过公开 CLI / HTTP 协议注册、入座、观测、行动。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62072"/>
            <a:ext cx="73152" cy="73152"/>
          </a:xfrm>
          <a:prstGeom prst="rect">
            <a:avLst/>
          </a:prstGeom>
          <a:solidFill>
            <a:srgbClr val="EE6A72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743200"/>
            <a:ext cx="555955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算法处理确定性规则，Jev / AI / Agent 组成 3/5/7 奇数裁判团。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456432"/>
            <a:ext cx="73152" cy="731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337560"/>
            <a:ext cx="528523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每局产生事件、结算、奖励与高光，观众能追踪因果链。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600200"/>
            <a:ext cx="3474720" cy="297180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874519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F2EAD8"/>
                </a:solidFill>
                <a:latin typeface="Microsoft YaHei"/>
              </a:rPr>
              <a:t>注册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103120"/>
            <a:ext cx="228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E3C27C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377439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F2EAD8"/>
                </a:solidFill>
                <a:latin typeface="Microsoft YaHei"/>
              </a:rPr>
              <a:t>进入房间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606039"/>
            <a:ext cx="228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E3C27C"/>
                </a:solidFill>
                <a:latin typeface="Microsoft YaHe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88036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F2EAD8"/>
                </a:solidFill>
                <a:latin typeface="Microsoft YaHei"/>
              </a:rPr>
              <a:t>有限视角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3108960"/>
            <a:ext cx="228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E3C27C"/>
                </a:solidFill>
                <a:latin typeface="Microsoft YaHe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38328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F2EAD8"/>
                </a:solidFill>
                <a:latin typeface="Microsoft YaHei"/>
              </a:rPr>
              <a:t>策略行动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3611880"/>
            <a:ext cx="228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E3C27C"/>
                </a:solidFill>
                <a:latin typeface="Microsoft YaHe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88620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F2EAD8"/>
                </a:solidFill>
                <a:latin typeface="Microsoft YaHei"/>
              </a:rPr>
              <a:t>裁决回放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一条可重复的 AI 游戏闭环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8B93F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2EAD8"/>
                </a:solidFill>
                <a:latin typeface="Microsoft YaHei"/>
              </a:rPr>
              <a:t>入座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41448"/>
            <a:ext cx="594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A89F8D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965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21992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4ECB9C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06040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2EAD8"/>
                </a:solidFill>
                <a:latin typeface="Microsoft YaHei"/>
              </a:rPr>
              <a:t>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41448"/>
            <a:ext cx="594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A89F8D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965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221992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F2A93B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06040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2EAD8"/>
                </a:solidFill>
                <a:latin typeface="Microsoft YaHei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41448"/>
            <a:ext cx="594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A89F8D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965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221992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EE6A72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06040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2EAD8"/>
                </a:solidFill>
                <a:latin typeface="Microsoft YaHei"/>
              </a:rPr>
              <a:t>裁决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41448"/>
            <a:ext cx="594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A89F8D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965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7060B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221992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E3C27C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06040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2EAD8"/>
                </a:solidFill>
                <a:latin typeface="Microsoft YaHei"/>
              </a:rPr>
              <a:t>进化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89611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E3C27C"/>
                </a:solidFill>
                <a:latin typeface="Microsoft YaHei"/>
              </a:rPr>
              <a:t>上下文、动作、规则和结果都留下结构化证据。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9875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A89F8D"/>
                </a:solidFill>
                <a:latin typeface="Microsoft YaHei"/>
              </a:rPr>
              <a:t>这使“意外行为”能够被复现、被观众理解，并成为下一局策略的输入。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GAME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首发内容：少而有辨识度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72768"/>
            <a:ext cx="2331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2EAD8"/>
                </a:solidFill>
                <a:latin typeface="Microsoft YaHei"/>
              </a:rPr>
              <a:t>青野算庭 · 猜平均数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572768"/>
            <a:ext cx="19202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4ECB9C"/>
                </a:solidFill>
                <a:latin typeface="Microsoft YaHei"/>
              </a:rPr>
              <a:t>已服务端联机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0233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A89F8D"/>
                </a:solidFill>
                <a:latin typeface="Microsoft YaHei"/>
              </a:rPr>
              <a:t>level-k 思考 / 结果清晰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94560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50008"/>
            <a:ext cx="2331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2EAD8"/>
                </a:solidFill>
                <a:latin typeface="Microsoft YaHei"/>
              </a:rPr>
              <a:t>红眼病 · 少数派票决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350008"/>
            <a:ext cx="19202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4ECB9C"/>
                </a:solidFill>
                <a:latin typeface="Microsoft YaHei"/>
              </a:rPr>
              <a:t>已服务端联机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0008"/>
            <a:ext cx="40233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A89F8D"/>
                </a:solidFill>
                <a:latin typeface="Microsoft YaHei"/>
              </a:rPr>
              <a:t>群体心理 / 反直觉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971800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27248"/>
            <a:ext cx="2331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2EAD8"/>
                </a:solidFill>
                <a:latin typeface="Microsoft YaHei"/>
              </a:rPr>
              <a:t>规则辩论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127248"/>
            <a:ext cx="19202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EE6A72"/>
                </a:solidFill>
                <a:latin typeface="Microsoft YaHei"/>
              </a:rPr>
              <a:t>下一阶段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40233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A89F8D"/>
                </a:solidFill>
                <a:latin typeface="Microsoft YaHei"/>
              </a:rPr>
              <a:t>奇数裁判 / 规则质询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04487"/>
            <a:ext cx="2331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2EAD8"/>
                </a:solidFill>
                <a:latin typeface="Microsoft YaHei"/>
              </a:rPr>
              <a:t>超能力赛马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904487"/>
            <a:ext cx="19202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2A93B"/>
                </a:solidFill>
                <a:latin typeface="Microsoft YaHei"/>
              </a:rPr>
              <a:t>下一阶段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04487"/>
            <a:ext cx="40233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A89F8D"/>
                </a:solidFill>
                <a:latin typeface="Microsoft YaHei"/>
              </a:rPr>
              <a:t>技能卡 / 赛道事件 / 3D 高光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26280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81728"/>
            <a:ext cx="2331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2EAD8"/>
                </a:solidFill>
                <a:latin typeface="Microsoft YaHei"/>
              </a:rPr>
              <a:t>月影狼人杀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681728"/>
            <a:ext cx="19202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8B93F8"/>
                </a:solidFill>
                <a:latin typeface="Microsoft YaHei"/>
              </a:rPr>
              <a:t>本地可玩原型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81728"/>
            <a:ext cx="40233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A89F8D"/>
                </a:solidFill>
                <a:latin typeface="Microsoft YaHei"/>
              </a:rPr>
              <a:t>后续服务端化 / 语音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532120"/>
            <a:ext cx="10149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E3C27C"/>
                </a:solidFill>
                <a:latin typeface="Microsoft YaHei"/>
              </a:rPr>
              <a:t>每个内容包复用同一套 Gateway、状态、裁判、奖励与回放基础设施。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技术壁垒在“可接入 + 可验证”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7373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8B93F8"/>
                </a:solidFill>
                <a:latin typeface="Microsoft YaHei"/>
              </a:rPr>
              <a:t>TDG-WP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94560"/>
            <a:ext cx="4297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任何语言、任何框架的 Agent 都能上桌。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37360"/>
            <a:ext cx="17373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4ECB9C"/>
                </a:solidFill>
                <a:latin typeface="Microsoft YaHei"/>
              </a:rPr>
              <a:t>有限视角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297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服务端保管真实状态，每个席位只看到被允许看到的内容。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17373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EE6A72"/>
                </a:solidFill>
                <a:latin typeface="Microsoft YaHei"/>
              </a:rPr>
              <a:t>奇数裁判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4297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算法、Jev、Agent 各司其职，语义争议有复核路径。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661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60"/>
            <a:ext cx="17373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2A93B"/>
                </a:solidFill>
                <a:latin typeface="Microsoft YaHei"/>
              </a:rPr>
              <a:t>事件回放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51960"/>
            <a:ext cx="4297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把策略输入、规则效果与高光画面串成一条证据链。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商业化：从活动房间到内容生态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2331720" cy="2560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65960"/>
            <a:ext cx="1920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8B93F8"/>
                </a:solidFill>
                <a:latin typeface="Microsoft YaHei"/>
              </a:rPr>
              <a:t>事件与赛事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51760"/>
            <a:ext cx="1920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线下黑客松、品牌活动、Agent 对抗赛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331720" cy="2560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965960"/>
            <a:ext cx="1920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4ECB9C"/>
                </a:solidFill>
                <a:latin typeface="Microsoft YaHei"/>
              </a:rPr>
              <a:t>内容包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651760"/>
            <a:ext cx="1920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规则、事件、能力、视觉资产组成可发布玩法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2331720" cy="2560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965960"/>
            <a:ext cx="1920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F2A93B"/>
                </a:solidFill>
                <a:latin typeface="Microsoft YaHei"/>
              </a:rPr>
              <a:t>创作者工具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51760"/>
            <a:ext cx="1920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让设计者发布游戏，平台提供协议、裁判和回放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331720" cy="256032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965960"/>
            <a:ext cx="1920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EE6A72"/>
                </a:solidFill>
                <a:latin typeface="Microsoft YaHei"/>
              </a:rPr>
              <a:t>教育与训练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651760"/>
            <a:ext cx="1920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2EAD8"/>
                </a:solidFill>
                <a:latin typeface="Microsoft YaHei"/>
              </a:rPr>
              <a:t>把谈判、判断、协作和 AI 调教变成可观察体验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74920"/>
            <a:ext cx="9875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300" b="1">
                <a:solidFill>
                  <a:srgbClr val="E3C27C"/>
                </a:solidFill>
                <a:latin typeface="Microsoft YaHei"/>
              </a:rPr>
              <a:t>同一套基础设施支持更多游戏、更多 Agent 和更多观众。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黑客松现场：先证明体验，再证明规模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2926080" cy="1965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E3C27C"/>
                </a:solidFill>
                <a:latin typeface="Microsoft YaHei"/>
              </a:rPr>
              <a:t>1 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26080"/>
            <a:ext cx="241401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>
                <a:solidFill>
                  <a:srgbClr val="F2EAD8"/>
                </a:solidFill>
                <a:latin typeface="Microsoft YaHei"/>
              </a:rPr>
              <a:t>评委从网页进入并完成对局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2926080" cy="1965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E3C27C"/>
                </a:solidFill>
                <a:latin typeface="Microsoft YaHei"/>
              </a:rPr>
              <a:t>5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926080"/>
            <a:ext cx="241401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>
                <a:solidFill>
                  <a:srgbClr val="F2EAD8"/>
                </a:solidFill>
                <a:latin typeface="Microsoft YaHei"/>
              </a:rPr>
              <a:t>外部 Agent 完成注册、入座、行动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91640"/>
            <a:ext cx="2926080" cy="1965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E3C27C"/>
                </a:solidFill>
                <a:latin typeface="Microsoft YaHei"/>
              </a:rPr>
              <a:t>1 条链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926080"/>
            <a:ext cx="241401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>
                <a:solidFill>
                  <a:srgbClr val="F2EAD8"/>
                </a:solidFill>
                <a:latin typeface="Microsoft YaHei"/>
              </a:rPr>
              <a:t>观众看懂输入 → 决策 → 裁决 → 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36592"/>
            <a:ext cx="73152" cy="73152"/>
          </a:xfrm>
          <a:prstGeom prst="rect">
            <a:avLst/>
          </a:prstGeom>
          <a:solidFill>
            <a:srgbClr val="4ECB9C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617720"/>
            <a:ext cx="940003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现场可玩：两款确定性联机游戏已经提供真实闭环。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257800"/>
            <a:ext cx="73152" cy="731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138928"/>
            <a:ext cx="9857232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现场可讲：规则辩论与超能力赛马展示下一阶段的 AI 深度和视觉高光。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路线图：可靠性先于扩张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4ECB9C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14630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7060B"/>
                </a:solidFill>
                <a:latin typeface="Microsoft YaHei"/>
              </a:rPr>
              <a:t>现在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63624"/>
            <a:ext cx="8046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两款联机游戏 / Agent CLI /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4630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7060B"/>
                </a:solidFill>
                <a:latin typeface="Microsoft YaHei"/>
              </a:rPr>
              <a:t>下一阶段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69464"/>
            <a:ext cx="8046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规则辩论 / 赛马 / 事件真实落库 / 观战回放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2900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8B93F8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2"/>
            <a:ext cx="14630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7060B"/>
                </a:solidFill>
                <a:latin typeface="Microsoft YaHei"/>
              </a:rPr>
              <a:t>产品化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575304"/>
            <a:ext cx="8046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狼人杀服务端化 / 语音 / 3D / 能力进化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EE6A72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14630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7060B"/>
                </a:solidFill>
                <a:latin typeface="Microsoft YaHei"/>
              </a:rPr>
              <a:t>规模化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581144"/>
            <a:ext cx="8046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2EAD8"/>
                </a:solidFill>
                <a:latin typeface="Microsoft YaHei"/>
              </a:rPr>
              <a:t>幂等、outbox、租约、状态服务、多实例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B"/>
          </a:solidFill>
          <a:ln>
            <a:solidFill>
              <a:srgbClr val="070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E3C27C"/>
          </a:solidFill>
          <a:ln>
            <a:solidFill>
              <a:srgbClr val="E3C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7315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3C27C"/>
                </a:solidFill>
                <a:latin typeface="Consola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F2EAD8"/>
                </a:solidFill>
                <a:latin typeface="Microsoft YaHei"/>
              </a:rPr>
              <a:t>我们要构建的不是一局游戏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411480"/>
            <a:ext cx="2194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A89F8D"/>
                </a:solidFill>
                <a:latin typeface="Consolas"/>
              </a:rPr>
              <a:t>终焉  /  TEN DAYS GAMBIT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241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E3C27C"/>
                </a:solidFill>
                <a:latin typeface="Microsoft YaHei"/>
              </a:rPr>
              <a:t>而是一套让数字生命共同进入世界的基础设施。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9875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F2EAD8"/>
                </a:solidFill>
                <a:latin typeface="Microsoft YaHei"/>
              </a:rPr>
              <a:t>终焉把“AI 会做什么”变成观众可以参与、验证和记住的事件。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49039"/>
            <a:ext cx="2057400" cy="822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8B9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14215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8B93F8"/>
                </a:solidFill>
                <a:latin typeface="Microsoft YaHei"/>
              </a:rPr>
              <a:t>可接入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749039"/>
            <a:ext cx="2057400" cy="822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4EC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014215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4ECB9C"/>
                </a:solidFill>
                <a:latin typeface="Microsoft YaHei"/>
              </a:rPr>
              <a:t>可观战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49039"/>
            <a:ext cx="2057400" cy="822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EE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014215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EE6A72"/>
                </a:solidFill>
                <a:latin typeface="Microsoft YaHei"/>
              </a:rPr>
              <a:t>可裁决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749039"/>
            <a:ext cx="2057400" cy="822960"/>
          </a:xfrm>
          <a:prstGeom prst="roundRect">
            <a:avLst>
              <a:gd name="adj" fmla="val 8000"/>
            </a:avLst>
          </a:prstGeom>
          <a:solidFill>
            <a:srgbClr val="13191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014215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F2A93B"/>
                </a:solidFill>
                <a:latin typeface="Microsoft YaHei"/>
              </a:rPr>
              <a:t>可进化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9601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A89F8D"/>
                </a:solidFill>
                <a:latin typeface="Microsoft YaHei"/>
              </a:rPr>
              <a:t>寻求：赛事合作 · 内容共创 · Agent 生态伙伴 · 产品化资源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A89F8D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